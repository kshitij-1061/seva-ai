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Arimo Bold Italics" charset="1" panose="020B0704020202090204"/>
      <p:regular r:id="rId28"/>
    </p:embeddedFont>
    <p:embeddedFont>
      <p:font typeface="Glacial Indifference" charset="1" panose="0000000000000000000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31" Target="fonts/font31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svg" Type="http://schemas.openxmlformats.org/officeDocument/2006/relationships/image"/><Relationship Id="rId12" Target="../media/image23.png" Type="http://schemas.openxmlformats.org/officeDocument/2006/relationships/image"/><Relationship Id="rId13" Target="../media/image24.png" Type="http://schemas.openxmlformats.org/officeDocument/2006/relationships/image"/><Relationship Id="rId14" Target="../media/image25.svg" Type="http://schemas.openxmlformats.org/officeDocument/2006/relationships/image"/><Relationship Id="rId15" Target="../media/image26.png" Type="http://schemas.openxmlformats.org/officeDocument/2006/relationships/image"/><Relationship Id="rId16" Target="../media/image27.svg" Type="http://schemas.openxmlformats.org/officeDocument/2006/relationships/image"/><Relationship Id="rId2" Target="../notesSlides/notesSlide4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19.png" Type="http://schemas.openxmlformats.org/officeDocument/2006/relationships/image"/><Relationship Id="rId9" Target="../media/image2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8.png" Type="http://schemas.openxmlformats.org/officeDocument/2006/relationships/image"/><Relationship Id="rId4" Target="../media/image2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0.png" Type="http://schemas.openxmlformats.org/officeDocument/2006/relationships/image"/><Relationship Id="rId4" Target="../media/image31.png" Type="http://schemas.openxmlformats.org/officeDocument/2006/relationships/image"/><Relationship Id="rId5" Target="../media/image32.png" Type="http://schemas.openxmlformats.org/officeDocument/2006/relationships/image"/><Relationship Id="rId6" Target="../media/image33.png" Type="http://schemas.openxmlformats.org/officeDocument/2006/relationships/image"/><Relationship Id="rId7" Target="../media/image34.png" Type="http://schemas.openxmlformats.org/officeDocument/2006/relationships/image"/><Relationship Id="rId8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0.png" Type="http://schemas.openxmlformats.org/officeDocument/2006/relationships/image"/><Relationship Id="rId4" Target="../media/image11.svg" Type="http://schemas.openxmlformats.org/officeDocument/2006/relationships/image"/><Relationship Id="rId5" Target="../media/image36.pn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39.png" Type="http://schemas.openxmlformats.org/officeDocument/2006/relationships/image"/><Relationship Id="rId4" Target="../media/image4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33366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861610" y="33366"/>
            <a:ext cx="3991701" cy="4898148"/>
            <a:chOff x="0" y="0"/>
            <a:chExt cx="11186464" cy="13726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186435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11186435">
                  <a:moveTo>
                    <a:pt x="0" y="0"/>
                  </a:moveTo>
                  <a:lnTo>
                    <a:pt x="11186435" y="0"/>
                  </a:lnTo>
                  <a:lnTo>
                    <a:pt x="11186435" y="13726668"/>
                  </a:lnTo>
                  <a:lnTo>
                    <a:pt x="0" y="137266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8210" r="0" b="-821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08624" y="1019175"/>
            <a:ext cx="9653125" cy="813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01"/>
              </a:lnSpc>
            </a:pPr>
            <a:r>
              <a:rPr lang="en-US" sz="5296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 🔴PROBLEM STATEMENT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08624" y="2530188"/>
            <a:ext cx="9452677" cy="1551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sz="4878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Citizens Encounter Problems, But Not Clear Next Steps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08624" y="4741014"/>
            <a:ext cx="9304615" cy="4530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9"/>
              </a:lnSpc>
            </a:pPr>
            <a:r>
              <a:rPr lang="en-US" b="true" sz="3708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Citizens face problems like:</a:t>
            </a:r>
          </a:p>
          <a:p>
            <a:pPr algn="l">
              <a:lnSpc>
                <a:spcPts val="6119"/>
              </a:lnSpc>
            </a:pPr>
            <a:r>
              <a:rPr lang="en-US" sz="3708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🛣️ Potholes and damaged roads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708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🗑️ Garbage and sanitation issues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708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💡 Broken streetlights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708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💧 Water leakage and drainage problems</a:t>
            </a:r>
          </a:p>
          <a:p>
            <a:pPr algn="l">
              <a:lnSpc>
                <a:spcPts val="4652"/>
              </a:lnSpc>
              <a:spcBef>
                <a:spcPct val="0"/>
              </a:spcBef>
            </a:pPr>
            <a:r>
              <a:rPr lang="en-US" sz="3728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🏥 Government Schemes Misinformation</a:t>
            </a:r>
          </a:p>
          <a:p>
            <a:pPr algn="l">
              <a:lnSpc>
                <a:spcPts val="4628"/>
              </a:lnSpc>
              <a:spcBef>
                <a:spcPct val="0"/>
              </a:spcBef>
            </a:pPr>
            <a:r>
              <a:rPr lang="en-US" sz="3708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🎓 Education and employment requirements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81683" y="5116017"/>
            <a:ext cx="7988472" cy="3988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1"/>
              </a:lnSpc>
            </a:pPr>
            <a:r>
              <a:rPr lang="en-US" b="true" sz="2980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Today, citizens often struggle to identify:</a:t>
            </a:r>
          </a:p>
          <a:p>
            <a:pPr algn="l">
              <a:lnSpc>
                <a:spcPts val="5226"/>
              </a:lnSpc>
            </a:pPr>
            <a:r>
              <a:rPr lang="en-US" sz="268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🏛️ Who should handle the problem?</a:t>
            </a:r>
          </a:p>
          <a:p>
            <a:pPr algn="l">
              <a:lnSpc>
                <a:spcPts val="5226"/>
              </a:lnSpc>
            </a:pPr>
            <a:r>
              <a:rPr lang="en-US" sz="268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📝 How should they report it?</a:t>
            </a:r>
          </a:p>
          <a:p>
            <a:pPr algn="l">
              <a:lnSpc>
                <a:spcPts val="5226"/>
              </a:lnSpc>
            </a:pPr>
            <a:r>
              <a:rPr lang="en-US" sz="268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📍 Where should they submit it?</a:t>
            </a:r>
          </a:p>
          <a:p>
            <a:pPr algn="l">
              <a:lnSpc>
                <a:spcPts val="5226"/>
              </a:lnSpc>
            </a:pPr>
            <a:r>
              <a:rPr lang="en-US" sz="268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📄 What information or documents are needed?</a:t>
            </a:r>
          </a:p>
          <a:p>
            <a:pPr algn="l">
              <a:lnSpc>
                <a:spcPts val="5226"/>
              </a:lnSpc>
            </a:pPr>
            <a:r>
              <a:rPr lang="en-US" sz="268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🔎 How can they track the outcome?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-1384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248717" y="1743004"/>
            <a:ext cx="18726156" cy="1728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3"/>
              </a:lnSpc>
            </a:pPr>
            <a:r>
              <a:rPr lang="en-US" b="true" sz="2951" spc="24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SevaFix Turns Citizen Needs into the Right Next Action</a:t>
            </a:r>
          </a:p>
          <a:p>
            <a:pPr algn="l">
              <a:lnSpc>
                <a:spcPts val="4633"/>
              </a:lnSpc>
            </a:pPr>
            <a:r>
              <a:rPr lang="en-US" b="true" sz="2951" spc="244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SevaAI understands what the citizen needs and guides them through the complete journey.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96640" y="522807"/>
            <a:ext cx="6718340" cy="954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62"/>
              </a:lnSpc>
              <a:spcBef>
                <a:spcPct val="0"/>
              </a:spcBef>
            </a:pPr>
            <a:r>
              <a:rPr lang="en-US" b="true" sz="589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🟢 THE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1190" y="3709338"/>
            <a:ext cx="11711583" cy="6005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1"/>
              </a:lnSpc>
            </a:pPr>
            <a:r>
              <a:rPr lang="en-US" b="true" sz="3851" spc="15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What SevaFix Provides :</a:t>
            </a:r>
          </a:p>
          <a:p>
            <a:pPr algn="l">
              <a:lnSpc>
                <a:spcPts val="5931"/>
              </a:lnSpc>
            </a:pPr>
            <a:r>
              <a:rPr lang="en-US" b="true" sz="3851" spc="15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🤖 AI-powered intent &amp; action routing</a:t>
            </a:r>
          </a:p>
          <a:p>
            <a:pPr algn="l">
              <a:lnSpc>
                <a:spcPts val="5931"/>
              </a:lnSpc>
            </a:pPr>
            <a:r>
              <a:rPr lang="en-US" b="true" sz="3851" spc="15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📝 AI-assisted civic issue reporting</a:t>
            </a:r>
          </a:p>
          <a:p>
            <a:pPr algn="l">
              <a:lnSpc>
                <a:spcPts val="5931"/>
              </a:lnSpc>
            </a:pPr>
            <a:r>
              <a:rPr lang="en-US" b="true" sz="3851" spc="15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📸 AI-assisted image evidence analysis</a:t>
            </a:r>
          </a:p>
          <a:p>
            <a:pPr algn="l">
              <a:lnSpc>
                <a:spcPts val="5931"/>
              </a:lnSpc>
            </a:pPr>
            <a:r>
              <a:rPr lang="en-US" b="true" sz="3851" spc="15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🏛️ Public service &amp; scheme discovery</a:t>
            </a:r>
          </a:p>
          <a:p>
            <a:pPr algn="l">
              <a:lnSpc>
                <a:spcPts val="5931"/>
              </a:lnSpc>
            </a:pPr>
            <a:r>
              <a:rPr lang="en-US" b="true" sz="3851" spc="15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📍 Location-based civic mapping</a:t>
            </a:r>
          </a:p>
          <a:p>
            <a:pPr algn="l">
              <a:lnSpc>
                <a:spcPts val="5931"/>
              </a:lnSpc>
            </a:pPr>
            <a:r>
              <a:rPr lang="en-US" b="true" sz="3851" spc="15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🔄 End-to-end report tracking</a:t>
            </a:r>
          </a:p>
          <a:p>
            <a:pPr algn="l">
              <a:lnSpc>
                <a:spcPts val="5931"/>
              </a:lnSpc>
            </a:pPr>
            <a:r>
              <a:rPr lang="en-US" b="true" sz="3851" spc="15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📊 Real-time demo analytics &amp; impact insights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992991" y="3693976"/>
            <a:ext cx="5273097" cy="3026845"/>
          </a:xfrm>
          <a:custGeom>
            <a:avLst/>
            <a:gdLst/>
            <a:ahLst/>
            <a:cxnLst/>
            <a:rect r="r" b="b" t="t" l="l"/>
            <a:pathLst>
              <a:path h="3026845" w="5273097">
                <a:moveTo>
                  <a:pt x="0" y="0"/>
                </a:moveTo>
                <a:lnTo>
                  <a:pt x="5273097" y="0"/>
                </a:lnTo>
                <a:lnTo>
                  <a:pt x="5273097" y="3026845"/>
                </a:lnTo>
                <a:lnTo>
                  <a:pt x="0" y="30268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 descr="preencoded.png"/>
          <p:cNvSpPr/>
          <p:nvPr/>
        </p:nvSpPr>
        <p:spPr>
          <a:xfrm flipH="false" flipV="false" rot="0">
            <a:off x="6514224" y="3693976"/>
            <a:ext cx="5273250" cy="3026845"/>
          </a:xfrm>
          <a:custGeom>
            <a:avLst/>
            <a:gdLst/>
            <a:ahLst/>
            <a:cxnLst/>
            <a:rect r="r" b="b" t="t" l="l"/>
            <a:pathLst>
              <a:path h="3026845" w="5273250">
                <a:moveTo>
                  <a:pt x="0" y="0"/>
                </a:moveTo>
                <a:lnTo>
                  <a:pt x="5273249" y="0"/>
                </a:lnTo>
                <a:lnTo>
                  <a:pt x="5273249" y="3026845"/>
                </a:lnTo>
                <a:lnTo>
                  <a:pt x="0" y="302684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 descr="preencoded.png"/>
          <p:cNvSpPr/>
          <p:nvPr/>
        </p:nvSpPr>
        <p:spPr>
          <a:xfrm flipH="false" flipV="false" rot="0">
            <a:off x="12035609" y="3693976"/>
            <a:ext cx="5273097" cy="3026845"/>
          </a:xfrm>
          <a:custGeom>
            <a:avLst/>
            <a:gdLst/>
            <a:ahLst/>
            <a:cxnLst/>
            <a:rect r="r" b="b" t="t" l="l"/>
            <a:pathLst>
              <a:path h="3026845" w="5273097">
                <a:moveTo>
                  <a:pt x="0" y="0"/>
                </a:moveTo>
                <a:lnTo>
                  <a:pt x="5273097" y="0"/>
                </a:lnTo>
                <a:lnTo>
                  <a:pt x="5273097" y="3026845"/>
                </a:lnTo>
                <a:lnTo>
                  <a:pt x="0" y="302684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814254" y="7000094"/>
            <a:ext cx="8212598" cy="2299402"/>
            <a:chOff x="0" y="0"/>
            <a:chExt cx="10950130" cy="306586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50194" cy="3065907"/>
            </a:xfrm>
            <a:custGeom>
              <a:avLst/>
              <a:gdLst/>
              <a:ahLst/>
              <a:cxnLst/>
              <a:rect r="r" b="b" t="t" l="l"/>
              <a:pathLst>
                <a:path h="3065907" w="10950194">
                  <a:moveTo>
                    <a:pt x="0" y="794512"/>
                  </a:moveTo>
                  <a:cubicBezTo>
                    <a:pt x="0" y="355727"/>
                    <a:pt x="355727" y="0"/>
                    <a:pt x="794512" y="0"/>
                  </a:cubicBezTo>
                  <a:lnTo>
                    <a:pt x="10155682" y="0"/>
                  </a:lnTo>
                  <a:cubicBezTo>
                    <a:pt x="10594467" y="0"/>
                    <a:pt x="10950194" y="355727"/>
                    <a:pt x="10950194" y="794512"/>
                  </a:cubicBezTo>
                  <a:lnTo>
                    <a:pt x="10950194" y="2271395"/>
                  </a:lnTo>
                  <a:cubicBezTo>
                    <a:pt x="10950194" y="2710180"/>
                    <a:pt x="10594467" y="3065907"/>
                    <a:pt x="10155682" y="3065907"/>
                  </a:cubicBezTo>
                  <a:lnTo>
                    <a:pt x="794512" y="3065907"/>
                  </a:lnTo>
                  <a:cubicBezTo>
                    <a:pt x="355727" y="3065907"/>
                    <a:pt x="0" y="2710180"/>
                    <a:pt x="0" y="2271395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62399" y="7092296"/>
            <a:ext cx="3553524" cy="728472"/>
          </a:xfrm>
          <a:custGeom>
            <a:avLst/>
            <a:gdLst/>
            <a:ahLst/>
            <a:cxnLst/>
            <a:rect r="r" b="b" t="t" l="l"/>
            <a:pathLst>
              <a:path h="728472" w="3553524">
                <a:moveTo>
                  <a:pt x="0" y="0"/>
                </a:moveTo>
                <a:lnTo>
                  <a:pt x="3553524" y="0"/>
                </a:lnTo>
                <a:lnTo>
                  <a:pt x="3553524" y="728472"/>
                </a:lnTo>
                <a:lnTo>
                  <a:pt x="0" y="72847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150848" y="6901796"/>
            <a:ext cx="6227291" cy="2796620"/>
          </a:xfrm>
          <a:custGeom>
            <a:avLst/>
            <a:gdLst/>
            <a:ahLst/>
            <a:cxnLst/>
            <a:rect r="r" b="b" t="t" l="l"/>
            <a:pathLst>
              <a:path h="2796620" w="6227291">
                <a:moveTo>
                  <a:pt x="0" y="0"/>
                </a:moveTo>
                <a:lnTo>
                  <a:pt x="6227292" y="0"/>
                </a:lnTo>
                <a:lnTo>
                  <a:pt x="6227292" y="2796620"/>
                </a:lnTo>
                <a:lnTo>
                  <a:pt x="0" y="279662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382233" y="7092296"/>
            <a:ext cx="2653376" cy="728472"/>
          </a:xfrm>
          <a:custGeom>
            <a:avLst/>
            <a:gdLst/>
            <a:ahLst/>
            <a:cxnLst/>
            <a:rect r="r" b="b" t="t" l="l"/>
            <a:pathLst>
              <a:path h="728472" w="2653376">
                <a:moveTo>
                  <a:pt x="0" y="0"/>
                </a:moveTo>
                <a:lnTo>
                  <a:pt x="2653376" y="0"/>
                </a:lnTo>
                <a:lnTo>
                  <a:pt x="2653376" y="728472"/>
                </a:lnTo>
                <a:lnTo>
                  <a:pt x="0" y="72847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545578" y="618101"/>
            <a:ext cx="17563505" cy="779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8"/>
              </a:lnSpc>
            </a:pPr>
            <a:r>
              <a:rPr lang="en-US" b="true" sz="4878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💬 CONVERSATION → 🧠 UNDERSTANDING → ⚡ ACTION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9649" y="1581558"/>
            <a:ext cx="16315868" cy="674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8"/>
              </a:lnSpc>
            </a:pPr>
            <a:r>
              <a:rPr lang="en-US" b="true" sz="3451" spc="213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SAY IT. SEVAAI UNDERSTANDS IT. SEVAAI FIX ACTS ON IT.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69721" y="4696387"/>
            <a:ext cx="2034302" cy="37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Civic Problem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790954" y="4696387"/>
            <a:ext cx="2916198" cy="37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Public Service Need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12339" y="4696387"/>
            <a:ext cx="2359819" cy="37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Status Update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312339" y="5157130"/>
            <a:ext cx="4719638" cy="877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3"/>
              </a:lnSpc>
            </a:pPr>
            <a:r>
              <a:rPr lang="en-US" sz="225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Citizen → SevaAI → Report ID → Tracking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69721" y="7259066"/>
            <a:ext cx="3050977" cy="37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b="true" sz="240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Smart Report Pre-Fill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2399" y="7789126"/>
            <a:ext cx="7716326" cy="1286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SevaAI pre-populates category, issue type, title, description, priority, and location hint. The citizen remains in control and can edit every AI-generated field.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07151" y="7224027"/>
            <a:ext cx="1932980" cy="37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7"/>
              </a:lnSpc>
            </a:pPr>
            <a:r>
              <a:rPr lang="en-US" sz="2401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Key Message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463249" y="7789126"/>
            <a:ext cx="5712248" cy="1559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4"/>
              </a:lnSpc>
            </a:pPr>
            <a:r>
              <a:rPr lang="en-US" sz="1951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SevaFix turns an unstructured citizen message into a structured, actionable workflow</a:t>
            </a:r>
            <a:r>
              <a:rPr lang="en-US" sz="195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— reducing friction and increasing the likelihood of a complete, useful report.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65080" y="3892167"/>
            <a:ext cx="3728919" cy="3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9"/>
              </a:lnSpc>
              <a:spcBef>
                <a:spcPct val="0"/>
              </a:spcBef>
            </a:pPr>
            <a:r>
              <a:rPr lang="en-US" b="true" sz="2251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🧠 SEVAAI UNDERSTANDS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81446" y="3767128"/>
            <a:ext cx="3725108" cy="65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0"/>
              </a:lnSpc>
              <a:spcBef>
                <a:spcPct val="0"/>
              </a:spcBef>
            </a:pPr>
            <a:r>
              <a:rPr lang="en-US" b="true" sz="2051" spc="84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⚡ SEVAFIX TAKES YOU TO</a:t>
            </a:r>
          </a:p>
          <a:p>
            <a:pPr algn="ctr">
              <a:lnSpc>
                <a:spcPts val="2560"/>
              </a:lnSpc>
              <a:spcBef>
                <a:spcPct val="0"/>
              </a:spcBef>
            </a:pPr>
            <a:r>
              <a:rPr lang="en-US" b="true" sz="2051" spc="84">
                <a:solidFill>
                  <a:srgbClr val="FF3131"/>
                </a:solidFill>
                <a:latin typeface="Arimo Bold"/>
                <a:ea typeface="Arimo Bold"/>
                <a:cs typeface="Arimo Bold"/>
                <a:sym typeface="Arimo Bold"/>
              </a:rPr>
              <a:t> THE RIGHT ACTION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58798" y="3937964"/>
            <a:ext cx="4226719" cy="36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9"/>
              </a:lnSpc>
              <a:spcBef>
                <a:spcPct val="0"/>
              </a:spcBef>
            </a:pPr>
            <a:r>
              <a:rPr lang="en-US" b="true" sz="2251">
                <a:solidFill>
                  <a:srgbClr val="1800AD"/>
                </a:solidFill>
                <a:latin typeface="Arimo Bold"/>
                <a:ea typeface="Arimo Bold"/>
                <a:cs typeface="Arimo Bold"/>
                <a:sym typeface="Arimo Bold"/>
              </a:rPr>
              <a:t>📍 SEE WHAT HAPPENS NEXT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69721" y="5144988"/>
            <a:ext cx="5273097" cy="1299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1334" indent="-210667" lvl="1">
              <a:lnSpc>
                <a:spcPts val="3512"/>
              </a:lnSpc>
              <a:buFont typeface="Arial"/>
              <a:buChar char="•"/>
            </a:pPr>
            <a:r>
              <a:rPr lang="en-US" sz="1951" spc="12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P</a:t>
            </a:r>
            <a:r>
              <a:rPr lang="en-US" sz="1951" spc="12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othole</a:t>
            </a:r>
          </a:p>
          <a:p>
            <a:pPr algn="l" marL="421334" indent="-210667" lvl="1">
              <a:lnSpc>
                <a:spcPts val="3512"/>
              </a:lnSpc>
              <a:buFont typeface="Arial"/>
              <a:buChar char="•"/>
            </a:pPr>
            <a:r>
              <a:rPr lang="en-US" sz="1951" spc="12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Road Infrastructure</a:t>
            </a:r>
          </a:p>
          <a:p>
            <a:pPr algn="l" marL="421334" indent="-210667" lvl="1">
              <a:lnSpc>
                <a:spcPts val="3512"/>
              </a:lnSpc>
              <a:buFont typeface="Arial"/>
              <a:buChar char="•"/>
            </a:pPr>
            <a:r>
              <a:rPr lang="en-US" sz="1951" spc="12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High Priority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767235" y="5185705"/>
            <a:ext cx="4963635" cy="1231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0"/>
              </a:lnSpc>
            </a:pPr>
            <a:r>
              <a:rPr lang="en-US" sz="2275" spc="30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Create Report --&gt;</a:t>
            </a:r>
          </a:p>
          <a:p>
            <a:pPr algn="ctr">
              <a:lnSpc>
                <a:spcPts val="3230"/>
              </a:lnSpc>
            </a:pPr>
            <a:r>
              <a:rPr lang="en-US" sz="2275" spc="30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Add Evidence --&gt; </a:t>
            </a:r>
          </a:p>
          <a:p>
            <a:pPr algn="l">
              <a:lnSpc>
                <a:spcPts val="3230"/>
              </a:lnSpc>
            </a:pPr>
            <a:r>
              <a:rPr lang="en-US" sz="2275" spc="30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        Submit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14254" y="2597885"/>
            <a:ext cx="15063028" cy="1121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7"/>
              </a:lnSpc>
              <a:spcBef>
                <a:spcPct val="0"/>
              </a:spcBef>
            </a:pPr>
            <a:r>
              <a:rPr lang="en-US" b="true" sz="3507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“There’s a dangerous pothole near the market.”</a:t>
            </a:r>
          </a:p>
          <a:p>
            <a:pPr algn="ctr">
              <a:lnSpc>
                <a:spcPts val="437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991" y="3869284"/>
            <a:ext cx="7883433" cy="2161337"/>
            <a:chOff x="0" y="0"/>
            <a:chExt cx="10511244" cy="288178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10511282" cy="2881757"/>
            </a:xfrm>
            <a:custGeom>
              <a:avLst/>
              <a:gdLst/>
              <a:ahLst/>
              <a:cxnLst/>
              <a:rect r="r" b="b" t="t" l="l"/>
              <a:pathLst>
                <a:path h="2881757" w="10511282">
                  <a:moveTo>
                    <a:pt x="0" y="0"/>
                  </a:moveTo>
                  <a:lnTo>
                    <a:pt x="10511282" y="0"/>
                  </a:lnTo>
                  <a:lnTo>
                    <a:pt x="10511282" y="2881757"/>
                  </a:lnTo>
                  <a:lnTo>
                    <a:pt x="0" y="28817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" t="0" r="0" b="0"/>
              </a:stretch>
            </a:blipFill>
          </p:spPr>
        </p:sp>
      </p:grpSp>
      <p:sp>
        <p:nvSpPr>
          <p:cNvPr name="Freeform 8" id="8" descr="preencoded.png"/>
          <p:cNvSpPr/>
          <p:nvPr/>
        </p:nvSpPr>
        <p:spPr>
          <a:xfrm flipH="false" flipV="false" rot="0">
            <a:off x="9434951" y="3869284"/>
            <a:ext cx="3839689" cy="1405585"/>
          </a:xfrm>
          <a:custGeom>
            <a:avLst/>
            <a:gdLst/>
            <a:ahLst/>
            <a:cxnLst/>
            <a:rect r="r" b="b" t="t" l="l"/>
            <a:pathLst>
              <a:path h="1405585" w="3839689">
                <a:moveTo>
                  <a:pt x="0" y="0"/>
                </a:moveTo>
                <a:lnTo>
                  <a:pt x="3839689" y="0"/>
                </a:lnTo>
                <a:lnTo>
                  <a:pt x="3839689" y="1405585"/>
                </a:lnTo>
                <a:lnTo>
                  <a:pt x="0" y="14055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74" r="0" b="-374"/>
            </a:stretch>
          </a:blipFill>
        </p:spPr>
      </p:sp>
      <p:sp>
        <p:nvSpPr>
          <p:cNvPr name="Freeform 9" id="9" descr="preencoded.png"/>
          <p:cNvSpPr/>
          <p:nvPr/>
        </p:nvSpPr>
        <p:spPr>
          <a:xfrm flipH="false" flipV="false" rot="0">
            <a:off x="13478542" y="3869284"/>
            <a:ext cx="3839842" cy="1405585"/>
          </a:xfrm>
          <a:custGeom>
            <a:avLst/>
            <a:gdLst/>
            <a:ahLst/>
            <a:cxnLst/>
            <a:rect r="r" b="b" t="t" l="l"/>
            <a:pathLst>
              <a:path h="1405585" w="3839842">
                <a:moveTo>
                  <a:pt x="0" y="0"/>
                </a:moveTo>
                <a:lnTo>
                  <a:pt x="3839842" y="0"/>
                </a:lnTo>
                <a:lnTo>
                  <a:pt x="3839842" y="1405585"/>
                </a:lnTo>
                <a:lnTo>
                  <a:pt x="0" y="14055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76" r="0" b="-376"/>
            </a:stretch>
          </a:blipFill>
        </p:spPr>
      </p:sp>
      <p:sp>
        <p:nvSpPr>
          <p:cNvPr name="Freeform 10" id="10" descr="preencoded.png"/>
          <p:cNvSpPr/>
          <p:nvPr/>
        </p:nvSpPr>
        <p:spPr>
          <a:xfrm flipH="false" flipV="false" rot="0">
            <a:off x="9434951" y="5478770"/>
            <a:ext cx="3839689" cy="2435095"/>
          </a:xfrm>
          <a:custGeom>
            <a:avLst/>
            <a:gdLst/>
            <a:ahLst/>
            <a:cxnLst/>
            <a:rect r="r" b="b" t="t" l="l"/>
            <a:pathLst>
              <a:path h="2435095" w="3839689">
                <a:moveTo>
                  <a:pt x="0" y="0"/>
                </a:moveTo>
                <a:lnTo>
                  <a:pt x="3839689" y="0"/>
                </a:lnTo>
                <a:lnTo>
                  <a:pt x="3839689" y="2435095"/>
                </a:lnTo>
                <a:lnTo>
                  <a:pt x="0" y="24350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153" r="0" b="-153"/>
            </a:stretch>
          </a:blipFill>
        </p:spPr>
      </p:sp>
      <p:sp>
        <p:nvSpPr>
          <p:cNvPr name="Freeform 11" id="11" descr="preencoded.png"/>
          <p:cNvSpPr/>
          <p:nvPr/>
        </p:nvSpPr>
        <p:spPr>
          <a:xfrm flipH="false" flipV="false" rot="0">
            <a:off x="13478542" y="5478770"/>
            <a:ext cx="3839842" cy="2435095"/>
          </a:xfrm>
          <a:custGeom>
            <a:avLst/>
            <a:gdLst/>
            <a:ahLst/>
            <a:cxnLst/>
            <a:rect r="r" b="b" t="t" l="l"/>
            <a:pathLst>
              <a:path h="2435095" w="3839842">
                <a:moveTo>
                  <a:pt x="0" y="0"/>
                </a:moveTo>
                <a:lnTo>
                  <a:pt x="3839842" y="0"/>
                </a:lnTo>
                <a:lnTo>
                  <a:pt x="3839842" y="2435095"/>
                </a:lnTo>
                <a:lnTo>
                  <a:pt x="0" y="243509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55" r="0" b="-155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992991" y="8372618"/>
            <a:ext cx="16315868" cy="1186043"/>
            <a:chOff x="0" y="0"/>
            <a:chExt cx="21754490" cy="15813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54466" cy="1581404"/>
            </a:xfrm>
            <a:custGeom>
              <a:avLst/>
              <a:gdLst/>
              <a:ahLst/>
              <a:cxnLst/>
              <a:rect r="r" b="b" t="t" l="l"/>
              <a:pathLst>
                <a:path h="1581404" w="21754466">
                  <a:moveTo>
                    <a:pt x="0" y="449961"/>
                  </a:moveTo>
                  <a:cubicBezTo>
                    <a:pt x="0" y="201422"/>
                    <a:pt x="201422" y="0"/>
                    <a:pt x="449961" y="0"/>
                  </a:cubicBezTo>
                  <a:lnTo>
                    <a:pt x="21304504" y="0"/>
                  </a:lnTo>
                  <a:cubicBezTo>
                    <a:pt x="21553043" y="0"/>
                    <a:pt x="21754466" y="201422"/>
                    <a:pt x="21754466" y="449961"/>
                  </a:cubicBezTo>
                  <a:lnTo>
                    <a:pt x="21754466" y="1131443"/>
                  </a:lnTo>
                  <a:cubicBezTo>
                    <a:pt x="21754466" y="1379982"/>
                    <a:pt x="21553044" y="1581404"/>
                    <a:pt x="21304504" y="1581404"/>
                  </a:cubicBezTo>
                  <a:lnTo>
                    <a:pt x="449961" y="1581404"/>
                  </a:lnTo>
                  <a:cubicBezTo>
                    <a:pt x="201422" y="1581404"/>
                    <a:pt x="0" y="1379982"/>
                    <a:pt x="0" y="1131443"/>
                  </a:cubicBezTo>
                  <a:close/>
                </a:path>
              </a:pathLst>
            </a:custGeom>
            <a:solidFill>
              <a:srgbClr val="ABBC6E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17886" y="8664550"/>
            <a:ext cx="281197" cy="224904"/>
            <a:chOff x="0" y="0"/>
            <a:chExt cx="374929" cy="299872"/>
          </a:xfrm>
        </p:grpSpPr>
        <p:sp>
          <p:nvSpPr>
            <p:cNvPr name="Freeform 15" id="15" descr="preencoded.png"/>
            <p:cNvSpPr/>
            <p:nvPr/>
          </p:nvSpPr>
          <p:spPr>
            <a:xfrm flipH="false" flipV="false" rot="0">
              <a:off x="0" y="0"/>
              <a:ext cx="374904" cy="299847"/>
            </a:xfrm>
            <a:custGeom>
              <a:avLst/>
              <a:gdLst/>
              <a:ahLst/>
              <a:cxnLst/>
              <a:rect r="r" b="b" t="t" l="l"/>
              <a:pathLst>
                <a:path h="299847" w="374904">
                  <a:moveTo>
                    <a:pt x="0" y="0"/>
                  </a:moveTo>
                  <a:lnTo>
                    <a:pt x="374904" y="0"/>
                  </a:lnTo>
                  <a:lnTo>
                    <a:pt x="374904" y="299847"/>
                  </a:lnTo>
                  <a:lnTo>
                    <a:pt x="0" y="2998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-12" r="-6" b="-21"/>
              </a:stretch>
            </a:blipFill>
          </p:spPr>
        </p:sp>
      </p:grpSp>
      <p:sp>
        <p:nvSpPr>
          <p:cNvPr name="Freeform 16" id="16"/>
          <p:cNvSpPr/>
          <p:nvPr/>
        </p:nvSpPr>
        <p:spPr>
          <a:xfrm flipH="false" flipV="false" rot="0">
            <a:off x="530938" y="3233042"/>
            <a:ext cx="2824839" cy="579092"/>
          </a:xfrm>
          <a:custGeom>
            <a:avLst/>
            <a:gdLst/>
            <a:ahLst/>
            <a:cxnLst/>
            <a:rect r="r" b="b" t="t" l="l"/>
            <a:pathLst>
              <a:path h="579092" w="2824839">
                <a:moveTo>
                  <a:pt x="0" y="0"/>
                </a:moveTo>
                <a:lnTo>
                  <a:pt x="2824839" y="0"/>
                </a:lnTo>
                <a:lnTo>
                  <a:pt x="2824839" y="579092"/>
                </a:lnTo>
                <a:lnTo>
                  <a:pt x="0" y="57909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737986" y="2923169"/>
            <a:ext cx="3959069" cy="831405"/>
          </a:xfrm>
          <a:custGeom>
            <a:avLst/>
            <a:gdLst/>
            <a:ahLst/>
            <a:cxnLst/>
            <a:rect r="r" b="b" t="t" l="l"/>
            <a:pathLst>
              <a:path h="831405" w="3959069">
                <a:moveTo>
                  <a:pt x="0" y="0"/>
                </a:moveTo>
                <a:lnTo>
                  <a:pt x="3959069" y="0"/>
                </a:lnTo>
                <a:lnTo>
                  <a:pt x="3959069" y="831405"/>
                </a:lnTo>
                <a:lnTo>
                  <a:pt x="0" y="83140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92991" y="1112206"/>
            <a:ext cx="14748272" cy="798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50"/>
              </a:lnSpc>
            </a:pPr>
            <a:r>
              <a:rPr lang="en-US" sz="4928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AI-Assisted Evidence Makes Reports More Useful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991" y="2102101"/>
            <a:ext cx="16315868" cy="76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7487" indent="-218744" lvl="1">
              <a:lnSpc>
                <a:spcPts val="3088"/>
              </a:lnSpc>
              <a:buFont typeface="Arial"/>
              <a:buChar char="•"/>
            </a:pPr>
            <a:r>
              <a:rPr lang="en-US" b="true" sz="2026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A citizen can attach photos to provide visual evidence of a civic issue. SevaFix's AI Vision analyzes the image, identifies the problem, and suggests findings for the citizen to review and accept.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991" y="3259826"/>
            <a:ext cx="7883433" cy="38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How It Works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943357" y="4631236"/>
            <a:ext cx="1191282" cy="2323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2"/>
              </a:lnSpc>
            </a:pPr>
            <a:r>
              <a:rPr lang="en-US" sz="1275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Upload Photo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43357" y="4914738"/>
            <a:ext cx="1191282" cy="373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5"/>
              </a:lnSpc>
            </a:pPr>
            <a:r>
              <a:rPr lang="en-US" sz="125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Citizen attaches visual evidence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551168" y="4331179"/>
            <a:ext cx="1191282" cy="46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2"/>
              </a:lnSpc>
            </a:pPr>
            <a:r>
              <a:rPr lang="en-US" sz="1475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AI Vision Analysis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551168" y="4827994"/>
            <a:ext cx="1191282" cy="525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7"/>
              </a:lnSpc>
            </a:pPr>
            <a:r>
              <a:rPr lang="en-US" sz="115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Automated detection and suggestions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89315" y="4455243"/>
            <a:ext cx="1191282" cy="467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2"/>
              </a:lnSpc>
            </a:pPr>
            <a:r>
              <a:rPr lang="en-US" sz="1475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Citizen Reviews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189315" y="5118516"/>
            <a:ext cx="1191282" cy="421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04"/>
              </a:lnSpc>
            </a:pPr>
            <a:r>
              <a:rPr lang="en-US" sz="135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Confirm or edit AI findings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812299" y="4707074"/>
            <a:ext cx="1191282" cy="2386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42"/>
              </a:lnSpc>
            </a:pPr>
            <a:r>
              <a:rPr lang="en-US" sz="1475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Add to Report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812299" y="4990576"/>
            <a:ext cx="1191282" cy="35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7"/>
              </a:lnSpc>
            </a:pPr>
            <a:r>
              <a:rPr lang="en-US" sz="115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Finalized findings added to record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434951" y="3259826"/>
            <a:ext cx="7883433" cy="38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AI Vision Output Example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02835" y="4094207"/>
            <a:ext cx="3218317" cy="38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Detected Issue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802835" y="4601994"/>
            <a:ext cx="3218317" cy="41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Pothole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846426" y="4094207"/>
            <a:ext cx="3218459" cy="38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Severity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846426" y="4601994"/>
            <a:ext cx="3218459" cy="41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High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802835" y="5703703"/>
            <a:ext cx="3218317" cy="38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Confidence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02835" y="6211491"/>
            <a:ext cx="3218317" cy="41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89%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846426" y="5703703"/>
            <a:ext cx="3218459" cy="380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21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Observations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846426" y="6211491"/>
            <a:ext cx="3218459" cy="1448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Road surface damage detected. Large depression visible. Potential hazard for two-wheelers.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723987" y="8556479"/>
            <a:ext cx="15359958" cy="762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0"/>
              </a:lnSpc>
            </a:pPr>
            <a:r>
              <a:rPr lang="en-US" sz="1726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AI assists the citizen; it does not replace citizen judgment.</a:t>
            </a:r>
            <a:r>
              <a:rPr lang="en-US" sz="172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 The citizen can accept findings, ignore them, retry analysis, or edit the generated description. Current prototype uses a simulated/local vision provider — results are illustrative and should be reviewed before submission.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847773" y="2467708"/>
            <a:ext cx="8202320" cy="6195641"/>
            <a:chOff x="0" y="0"/>
            <a:chExt cx="10936427" cy="82608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36478" cy="8260842"/>
            </a:xfrm>
            <a:custGeom>
              <a:avLst/>
              <a:gdLst/>
              <a:ahLst/>
              <a:cxnLst/>
              <a:rect r="r" b="b" t="t" l="l"/>
              <a:pathLst>
                <a:path h="8260842" w="10936478">
                  <a:moveTo>
                    <a:pt x="0" y="645541"/>
                  </a:moveTo>
                  <a:cubicBezTo>
                    <a:pt x="0" y="289052"/>
                    <a:pt x="289052" y="0"/>
                    <a:pt x="645541" y="0"/>
                  </a:cubicBezTo>
                  <a:lnTo>
                    <a:pt x="10290937" y="0"/>
                  </a:lnTo>
                  <a:cubicBezTo>
                    <a:pt x="10647426" y="0"/>
                    <a:pt x="10936478" y="289052"/>
                    <a:pt x="10936478" y="645541"/>
                  </a:cubicBezTo>
                  <a:lnTo>
                    <a:pt x="10936478" y="7615301"/>
                  </a:lnTo>
                  <a:cubicBezTo>
                    <a:pt x="10936478" y="7971790"/>
                    <a:pt x="10647426" y="8260842"/>
                    <a:pt x="10290937" y="8260842"/>
                  </a:cubicBezTo>
                  <a:lnTo>
                    <a:pt x="645541" y="8260842"/>
                  </a:lnTo>
                  <a:cubicBezTo>
                    <a:pt x="289052" y="8260842"/>
                    <a:pt x="0" y="7971917"/>
                    <a:pt x="0" y="7615301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49436" y="3445231"/>
            <a:ext cx="7798984" cy="28594"/>
            <a:chOff x="0" y="0"/>
            <a:chExt cx="10398646" cy="3812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398633" cy="38100"/>
            </a:xfrm>
            <a:custGeom>
              <a:avLst/>
              <a:gdLst/>
              <a:ahLst/>
              <a:cxnLst/>
              <a:rect r="r" b="b" t="t" l="l"/>
              <a:pathLst>
                <a:path h="38100" w="10398633">
                  <a:moveTo>
                    <a:pt x="0" y="0"/>
                  </a:moveTo>
                  <a:lnTo>
                    <a:pt x="10398633" y="0"/>
                  </a:lnTo>
                  <a:lnTo>
                    <a:pt x="1039863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49436" y="4547578"/>
            <a:ext cx="7798984" cy="28594"/>
            <a:chOff x="0" y="0"/>
            <a:chExt cx="10398646" cy="381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98633" cy="38100"/>
            </a:xfrm>
            <a:custGeom>
              <a:avLst/>
              <a:gdLst/>
              <a:ahLst/>
              <a:cxnLst/>
              <a:rect r="r" b="b" t="t" l="l"/>
              <a:pathLst>
                <a:path h="38100" w="10398633">
                  <a:moveTo>
                    <a:pt x="0" y="0"/>
                  </a:moveTo>
                  <a:lnTo>
                    <a:pt x="10398633" y="0"/>
                  </a:lnTo>
                  <a:lnTo>
                    <a:pt x="1039863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83792E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49436" y="5649916"/>
            <a:ext cx="7798984" cy="28594"/>
            <a:chOff x="0" y="0"/>
            <a:chExt cx="10398646" cy="381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98633" cy="38100"/>
            </a:xfrm>
            <a:custGeom>
              <a:avLst/>
              <a:gdLst/>
              <a:ahLst/>
              <a:cxnLst/>
              <a:rect r="r" b="b" t="t" l="l"/>
              <a:pathLst>
                <a:path h="38100" w="10398633">
                  <a:moveTo>
                    <a:pt x="0" y="0"/>
                  </a:moveTo>
                  <a:lnTo>
                    <a:pt x="10398633" y="0"/>
                  </a:lnTo>
                  <a:lnTo>
                    <a:pt x="1039863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E8AF3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49436" y="6752253"/>
            <a:ext cx="7798984" cy="28594"/>
            <a:chOff x="0" y="0"/>
            <a:chExt cx="10398646" cy="381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98633" cy="38100"/>
            </a:xfrm>
            <a:custGeom>
              <a:avLst/>
              <a:gdLst/>
              <a:ahLst/>
              <a:cxnLst/>
              <a:rect r="r" b="b" t="t" l="l"/>
              <a:pathLst>
                <a:path h="38100" w="10398633">
                  <a:moveTo>
                    <a:pt x="0" y="0"/>
                  </a:moveTo>
                  <a:lnTo>
                    <a:pt x="10398633" y="0"/>
                  </a:lnTo>
                  <a:lnTo>
                    <a:pt x="1039863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914D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49436" y="7854591"/>
            <a:ext cx="7798984" cy="28594"/>
            <a:chOff x="0" y="0"/>
            <a:chExt cx="10398646" cy="3812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398633" cy="38100"/>
            </a:xfrm>
            <a:custGeom>
              <a:avLst/>
              <a:gdLst/>
              <a:ahLst/>
              <a:cxnLst/>
              <a:rect r="r" b="b" t="t" l="l"/>
              <a:pathLst>
                <a:path h="38100" w="10398633">
                  <a:moveTo>
                    <a:pt x="0" y="0"/>
                  </a:moveTo>
                  <a:lnTo>
                    <a:pt x="10398633" y="0"/>
                  </a:lnTo>
                  <a:lnTo>
                    <a:pt x="1039863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626C3B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1049441" y="7692647"/>
            <a:ext cx="7798984" cy="28594"/>
            <a:chOff x="0" y="0"/>
            <a:chExt cx="10398646" cy="3812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98633" cy="38100"/>
            </a:xfrm>
            <a:custGeom>
              <a:avLst/>
              <a:gdLst/>
              <a:ahLst/>
              <a:cxnLst/>
              <a:rect r="r" b="b" t="t" l="l"/>
              <a:pathLst>
                <a:path h="38100" w="10398633">
                  <a:moveTo>
                    <a:pt x="0" y="0"/>
                  </a:moveTo>
                  <a:lnTo>
                    <a:pt x="10398633" y="0"/>
                  </a:lnTo>
                  <a:lnTo>
                    <a:pt x="1039863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914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9441" y="3416637"/>
            <a:ext cx="7798984" cy="28594"/>
            <a:chOff x="0" y="0"/>
            <a:chExt cx="10398646" cy="381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398633" cy="38100"/>
            </a:xfrm>
            <a:custGeom>
              <a:avLst/>
              <a:gdLst/>
              <a:ahLst/>
              <a:cxnLst/>
              <a:rect r="r" b="b" t="t" l="l"/>
              <a:pathLst>
                <a:path h="38100" w="10398633">
                  <a:moveTo>
                    <a:pt x="0" y="0"/>
                  </a:moveTo>
                  <a:lnTo>
                    <a:pt x="10398633" y="0"/>
                  </a:lnTo>
                  <a:lnTo>
                    <a:pt x="10398633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CC914D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9150925" y="2530973"/>
            <a:ext cx="4925787" cy="2212126"/>
          </a:xfrm>
          <a:custGeom>
            <a:avLst/>
            <a:gdLst/>
            <a:ahLst/>
            <a:cxnLst/>
            <a:rect r="r" b="b" t="t" l="l"/>
            <a:pathLst>
              <a:path h="2212126" w="4925787">
                <a:moveTo>
                  <a:pt x="0" y="0"/>
                </a:moveTo>
                <a:lnTo>
                  <a:pt x="4925787" y="0"/>
                </a:lnTo>
                <a:lnTo>
                  <a:pt x="4925787" y="2212127"/>
                </a:lnTo>
                <a:lnTo>
                  <a:pt x="0" y="221212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277697" y="4800250"/>
            <a:ext cx="4250774" cy="1908984"/>
          </a:xfrm>
          <a:custGeom>
            <a:avLst/>
            <a:gdLst/>
            <a:ahLst/>
            <a:cxnLst/>
            <a:rect r="r" b="b" t="t" l="l"/>
            <a:pathLst>
              <a:path h="1908984" w="4250774">
                <a:moveTo>
                  <a:pt x="0" y="0"/>
                </a:moveTo>
                <a:lnTo>
                  <a:pt x="4250774" y="0"/>
                </a:lnTo>
                <a:lnTo>
                  <a:pt x="4250774" y="1908984"/>
                </a:lnTo>
                <a:lnTo>
                  <a:pt x="0" y="19089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9406499" y="6812210"/>
            <a:ext cx="4670213" cy="2097350"/>
          </a:xfrm>
          <a:custGeom>
            <a:avLst/>
            <a:gdLst/>
            <a:ahLst/>
            <a:cxnLst/>
            <a:rect r="r" b="b" t="t" l="l"/>
            <a:pathLst>
              <a:path h="2097350" w="4670213">
                <a:moveTo>
                  <a:pt x="0" y="0"/>
                </a:moveTo>
                <a:lnTo>
                  <a:pt x="4670213" y="0"/>
                </a:lnTo>
                <a:lnTo>
                  <a:pt x="4670213" y="2097350"/>
                </a:lnTo>
                <a:lnTo>
                  <a:pt x="0" y="20973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92991" y="1076754"/>
            <a:ext cx="16315868" cy="668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1"/>
              </a:lnSpc>
            </a:pPr>
            <a:r>
              <a:rPr lang="en-US" sz="3903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From "Submitted" to "What's Happening Now?"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2991" y="1943319"/>
            <a:ext cx="17230954" cy="3400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8"/>
              </a:lnSpc>
            </a:pPr>
            <a:r>
              <a:rPr lang="en-US" sz="15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Submitting a complaint should not be the end of the experience. Every report gets a unique ID and a transparent lifecycle that citizens and departments can follow in real time.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80966" y="2666414"/>
            <a:ext cx="3311128" cy="5320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2"/>
              </a:lnSpc>
            </a:pPr>
            <a:r>
              <a:rPr lang="en-US" sz="3351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Report Lifecycle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35584" y="3700014"/>
            <a:ext cx="1801892" cy="51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31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Submitted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518336" y="4948913"/>
            <a:ext cx="2520315" cy="49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0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Acknowledged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97146" y="6030935"/>
            <a:ext cx="1594009" cy="49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08"/>
              </a:lnSpc>
            </a:pPr>
            <a:r>
              <a:rPr lang="en-US" sz="30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Assigned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835584" y="6990397"/>
            <a:ext cx="2046446" cy="5141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31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In Progress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997146" y="7987960"/>
            <a:ext cx="1562695" cy="477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3"/>
              </a:lnSpc>
            </a:pPr>
            <a:r>
              <a:rPr lang="en-US" sz="295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Resolved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06499" y="2602973"/>
            <a:ext cx="7911884" cy="34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Citizen Dashboard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406499" y="3062935"/>
            <a:ext cx="7911884" cy="1425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Report ID and current status</a:t>
            </a:r>
          </a:p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Timeline of every update</a:t>
            </a:r>
          </a:p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Location and assigned department</a:t>
            </a:r>
          </a:p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AI-assisted evidence attached</a:t>
            </a:r>
          </a:p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Resolution feedback option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406499" y="4937084"/>
            <a:ext cx="2727603" cy="3214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Management Dashboard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406499" y="5397036"/>
            <a:ext cx="7911884" cy="1039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View, search, and filter all reports</a:t>
            </a:r>
          </a:p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Assign departments and update priority</a:t>
            </a:r>
          </a:p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Add internal notes and monitor activity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08468" y="7080385"/>
            <a:ext cx="7911884" cy="3437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5"/>
              </a:lnSpc>
            </a:pPr>
            <a:r>
              <a:rPr lang="en-US" sz="195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Department Dashboard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572529" y="7514511"/>
            <a:ext cx="7911884" cy="68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View assigned reports and update progress</a:t>
            </a:r>
          </a:p>
          <a:p>
            <a:pPr algn="l" marL="285480" indent="-142740" lvl="1">
              <a:lnSpc>
                <a:spcPts val="2288"/>
              </a:lnSpc>
              <a:buFont typeface="Arial"/>
              <a:buChar char="•"/>
            </a:pPr>
            <a:r>
              <a:rPr lang="en-US" sz="157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Add progress notes and mark reports resolved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1059923"/>
            <a:ext cx="16315868" cy="6320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89"/>
              </a:lnSpc>
            </a:pPr>
            <a:r>
              <a:rPr lang="en-US" sz="3677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Closing the Loop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2991" y="1862585"/>
            <a:ext cx="16315868" cy="58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4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 civic platform should not stop at collecting complaints. SevaFix connects every stage — from problem discovery to department action to citizen-verified resolution — creating a visible, accountable path.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2991" y="2610698"/>
            <a:ext cx="8157934" cy="760362"/>
            <a:chOff x="0" y="0"/>
            <a:chExt cx="10877245" cy="101381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10877296" cy="1013841"/>
            </a:xfrm>
            <a:custGeom>
              <a:avLst/>
              <a:gdLst/>
              <a:ahLst/>
              <a:cxnLst/>
              <a:rect r="r" b="b" t="t" l="l"/>
              <a:pathLst>
                <a:path h="1013841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1013841"/>
                  </a:lnTo>
                  <a:lnTo>
                    <a:pt x="0" y="1013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135" r="0" b="-132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83034" y="3488007"/>
            <a:ext cx="7777839" cy="3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Problem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83034" y="3853082"/>
            <a:ext cx="7777839" cy="31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4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Large pothole near market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150925" y="2610698"/>
            <a:ext cx="8157934" cy="760362"/>
            <a:chOff x="0" y="0"/>
            <a:chExt cx="10877245" cy="1013816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10877296" cy="1013841"/>
            </a:xfrm>
            <a:custGeom>
              <a:avLst/>
              <a:gdLst/>
              <a:ahLst/>
              <a:cxnLst/>
              <a:rect r="r" b="b" t="t" l="l"/>
              <a:pathLst>
                <a:path h="1013841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1013841"/>
                  </a:lnTo>
                  <a:lnTo>
                    <a:pt x="0" y="1013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35" r="0" b="-132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9340967" y="3488007"/>
            <a:ext cx="7777839" cy="3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Report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340967" y="3853082"/>
            <a:ext cx="7777839" cy="31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4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SF-1024 created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992991" y="4359154"/>
            <a:ext cx="8157934" cy="760362"/>
            <a:chOff x="0" y="0"/>
            <a:chExt cx="10877245" cy="1013816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10877296" cy="1013841"/>
            </a:xfrm>
            <a:custGeom>
              <a:avLst/>
              <a:gdLst/>
              <a:ahLst/>
              <a:cxnLst/>
              <a:rect r="r" b="b" t="t" l="l"/>
              <a:pathLst>
                <a:path h="1013841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1013841"/>
                  </a:lnTo>
                  <a:lnTo>
                    <a:pt x="0" y="1013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35" r="0" b="-132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83034" y="5236464"/>
            <a:ext cx="7777839" cy="3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Assignment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3034" y="5601538"/>
            <a:ext cx="7777839" cy="31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4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Road Infrastructure Dept.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50925" y="4359154"/>
            <a:ext cx="8157934" cy="760362"/>
            <a:chOff x="0" y="0"/>
            <a:chExt cx="10877245" cy="1013816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10877296" cy="1013841"/>
            </a:xfrm>
            <a:custGeom>
              <a:avLst/>
              <a:gdLst/>
              <a:ahLst/>
              <a:cxnLst/>
              <a:rect r="r" b="b" t="t" l="l"/>
              <a:pathLst>
                <a:path h="1013841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1013841"/>
                  </a:lnTo>
                  <a:lnTo>
                    <a:pt x="0" y="1013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35" r="0" b="-132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340967" y="5236464"/>
            <a:ext cx="7777839" cy="3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Progress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40967" y="5601538"/>
            <a:ext cx="7777839" cy="31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4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Repair work in progress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92991" y="6107620"/>
            <a:ext cx="8157934" cy="760362"/>
            <a:chOff x="0" y="0"/>
            <a:chExt cx="10877245" cy="1013816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10877296" cy="1013841"/>
            </a:xfrm>
            <a:custGeom>
              <a:avLst/>
              <a:gdLst/>
              <a:ahLst/>
              <a:cxnLst/>
              <a:rect r="r" b="b" t="t" l="l"/>
              <a:pathLst>
                <a:path h="1013841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1013841"/>
                  </a:lnTo>
                  <a:lnTo>
                    <a:pt x="0" y="1013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135" r="0" b="-132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183034" y="6984921"/>
            <a:ext cx="7777839" cy="3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Resolution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83034" y="7350004"/>
            <a:ext cx="7777839" cy="31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4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Report marked resolved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150925" y="6107620"/>
            <a:ext cx="8157934" cy="760362"/>
            <a:chOff x="0" y="0"/>
            <a:chExt cx="10877245" cy="1013816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10877296" cy="1013841"/>
            </a:xfrm>
            <a:custGeom>
              <a:avLst/>
              <a:gdLst/>
              <a:ahLst/>
              <a:cxnLst/>
              <a:rect r="r" b="b" t="t" l="l"/>
              <a:pathLst>
                <a:path h="1013841" w="10877296">
                  <a:moveTo>
                    <a:pt x="0" y="0"/>
                  </a:moveTo>
                  <a:lnTo>
                    <a:pt x="10877296" y="0"/>
                  </a:lnTo>
                  <a:lnTo>
                    <a:pt x="10877296" y="1013841"/>
                  </a:lnTo>
                  <a:lnTo>
                    <a:pt x="0" y="10138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-135" r="0" b="-132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340967" y="6984921"/>
            <a:ext cx="7777839" cy="3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Feedback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40967" y="7350004"/>
            <a:ext cx="7777839" cy="31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4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Citizen confirms outcome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56107" y="8019764"/>
            <a:ext cx="8199787" cy="1524000"/>
            <a:chOff x="0" y="0"/>
            <a:chExt cx="10933049" cy="20320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33049" cy="2032000"/>
            </a:xfrm>
            <a:custGeom>
              <a:avLst/>
              <a:gdLst/>
              <a:ahLst/>
              <a:cxnLst/>
              <a:rect r="r" b="b" t="t" l="l"/>
              <a:pathLst>
                <a:path h="2032000" w="10933049">
                  <a:moveTo>
                    <a:pt x="0" y="608330"/>
                  </a:moveTo>
                  <a:cubicBezTo>
                    <a:pt x="0" y="272288"/>
                    <a:pt x="272288" y="0"/>
                    <a:pt x="608330" y="0"/>
                  </a:cubicBezTo>
                  <a:lnTo>
                    <a:pt x="10324719" y="0"/>
                  </a:lnTo>
                  <a:cubicBezTo>
                    <a:pt x="10660634" y="0"/>
                    <a:pt x="10933049" y="272288"/>
                    <a:pt x="10933049" y="608330"/>
                  </a:cubicBezTo>
                  <a:lnTo>
                    <a:pt x="10933049" y="1423670"/>
                  </a:lnTo>
                  <a:cubicBezTo>
                    <a:pt x="10933049" y="1759585"/>
                    <a:pt x="10660761" y="2032000"/>
                    <a:pt x="10324719" y="2032000"/>
                  </a:cubicBezTo>
                  <a:lnTo>
                    <a:pt x="608330" y="2032000"/>
                  </a:lnTo>
                  <a:cubicBezTo>
                    <a:pt x="272288" y="2032000"/>
                    <a:pt x="0" y="1759712"/>
                    <a:pt x="0" y="1423670"/>
                  </a:cubicBezTo>
                  <a:close/>
                </a:path>
              </a:pathLst>
            </a:custGeom>
            <a:solidFill>
              <a:srgbClr val="626C3B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046159" y="8136712"/>
            <a:ext cx="7819692" cy="3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Resolution Feedback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6159" y="8560022"/>
            <a:ext cx="7819692" cy="5844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426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After resolution, the citizen can confirm the issue is resolved, mark it as not resolved, or add an optional comment — closing the accountability loop.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392355" y="8136712"/>
            <a:ext cx="7926029" cy="32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8"/>
              </a:lnSpc>
            </a:pPr>
            <a:r>
              <a:rPr lang="en-US" sz="18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Why This Matters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92355" y="8560022"/>
            <a:ext cx="7926029" cy="8528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9"/>
              </a:lnSpc>
            </a:pPr>
            <a:r>
              <a:rPr lang="en-US" sz="1426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The goal is not simply to collect more complaints. The goal is to create a visible path from problem discovery to action and resolution.</a:t>
            </a:r>
            <a:r>
              <a:rPr lang="en-US" sz="1426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 Without feedback, there is no accountability. Without accountability, there is no trust.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472066" y="8812101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469" y="8719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192464" y="1989690"/>
            <a:ext cx="3461584" cy="1554566"/>
          </a:xfrm>
          <a:custGeom>
            <a:avLst/>
            <a:gdLst/>
            <a:ahLst/>
            <a:cxnLst/>
            <a:rect r="r" b="b" t="t" l="l"/>
            <a:pathLst>
              <a:path h="1554566" w="3461584">
                <a:moveTo>
                  <a:pt x="0" y="0"/>
                </a:moveTo>
                <a:lnTo>
                  <a:pt x="3461584" y="0"/>
                </a:lnTo>
                <a:lnTo>
                  <a:pt x="3461584" y="1554566"/>
                </a:lnTo>
                <a:lnTo>
                  <a:pt x="0" y="1554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923588" y="3876864"/>
            <a:ext cx="3461584" cy="1554566"/>
          </a:xfrm>
          <a:custGeom>
            <a:avLst/>
            <a:gdLst/>
            <a:ahLst/>
            <a:cxnLst/>
            <a:rect r="r" b="b" t="t" l="l"/>
            <a:pathLst>
              <a:path h="1554566" w="3461584">
                <a:moveTo>
                  <a:pt x="0" y="0"/>
                </a:moveTo>
                <a:lnTo>
                  <a:pt x="3461584" y="0"/>
                </a:lnTo>
                <a:lnTo>
                  <a:pt x="3461584" y="1554566"/>
                </a:lnTo>
                <a:lnTo>
                  <a:pt x="0" y="1554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480597" y="2062029"/>
            <a:ext cx="3461584" cy="1554566"/>
          </a:xfrm>
          <a:custGeom>
            <a:avLst/>
            <a:gdLst/>
            <a:ahLst/>
            <a:cxnLst/>
            <a:rect r="r" b="b" t="t" l="l"/>
            <a:pathLst>
              <a:path h="1554566" w="3461584">
                <a:moveTo>
                  <a:pt x="0" y="0"/>
                </a:moveTo>
                <a:lnTo>
                  <a:pt x="3461584" y="0"/>
                </a:lnTo>
                <a:lnTo>
                  <a:pt x="3461584" y="1554566"/>
                </a:lnTo>
                <a:lnTo>
                  <a:pt x="0" y="1554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023872" y="2062029"/>
            <a:ext cx="3461584" cy="1554566"/>
          </a:xfrm>
          <a:custGeom>
            <a:avLst/>
            <a:gdLst/>
            <a:ahLst/>
            <a:cxnLst/>
            <a:rect r="r" b="b" t="t" l="l"/>
            <a:pathLst>
              <a:path h="1554566" w="3461584">
                <a:moveTo>
                  <a:pt x="0" y="0"/>
                </a:moveTo>
                <a:lnTo>
                  <a:pt x="3461584" y="0"/>
                </a:lnTo>
                <a:lnTo>
                  <a:pt x="3461584" y="1554566"/>
                </a:lnTo>
                <a:lnTo>
                  <a:pt x="0" y="1554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168268" y="3890229"/>
            <a:ext cx="3461584" cy="1554566"/>
          </a:xfrm>
          <a:custGeom>
            <a:avLst/>
            <a:gdLst/>
            <a:ahLst/>
            <a:cxnLst/>
            <a:rect r="r" b="b" t="t" l="l"/>
            <a:pathLst>
              <a:path h="1554566" w="3461584">
                <a:moveTo>
                  <a:pt x="0" y="0"/>
                </a:moveTo>
                <a:lnTo>
                  <a:pt x="3461584" y="0"/>
                </a:lnTo>
                <a:lnTo>
                  <a:pt x="3461584" y="1554566"/>
                </a:lnTo>
                <a:lnTo>
                  <a:pt x="0" y="15545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683417" y="5845828"/>
            <a:ext cx="4051278" cy="4332918"/>
          </a:xfrm>
          <a:custGeom>
            <a:avLst/>
            <a:gdLst/>
            <a:ahLst/>
            <a:cxnLst/>
            <a:rect r="r" b="b" t="t" l="l"/>
            <a:pathLst>
              <a:path h="4332918" w="4051278">
                <a:moveTo>
                  <a:pt x="0" y="0"/>
                </a:moveTo>
                <a:lnTo>
                  <a:pt x="4051278" y="0"/>
                </a:lnTo>
                <a:lnTo>
                  <a:pt x="4051278" y="4332918"/>
                </a:lnTo>
                <a:lnTo>
                  <a:pt x="0" y="43329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266434" y="5751471"/>
            <a:ext cx="2824839" cy="579092"/>
          </a:xfrm>
          <a:custGeom>
            <a:avLst/>
            <a:gdLst/>
            <a:ahLst/>
            <a:cxnLst/>
            <a:rect r="r" b="b" t="t" l="l"/>
            <a:pathLst>
              <a:path h="579092" w="2824839">
                <a:moveTo>
                  <a:pt x="0" y="0"/>
                </a:moveTo>
                <a:lnTo>
                  <a:pt x="2824839" y="0"/>
                </a:lnTo>
                <a:lnTo>
                  <a:pt x="2824839" y="579092"/>
                </a:lnTo>
                <a:lnTo>
                  <a:pt x="0" y="5790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66434" y="7002234"/>
            <a:ext cx="2824839" cy="579092"/>
          </a:xfrm>
          <a:custGeom>
            <a:avLst/>
            <a:gdLst/>
            <a:ahLst/>
            <a:cxnLst/>
            <a:rect r="r" b="b" t="t" l="l"/>
            <a:pathLst>
              <a:path h="579092" w="2824839">
                <a:moveTo>
                  <a:pt x="0" y="0"/>
                </a:moveTo>
                <a:lnTo>
                  <a:pt x="2824839" y="0"/>
                </a:lnTo>
                <a:lnTo>
                  <a:pt x="2824839" y="579092"/>
                </a:lnTo>
                <a:lnTo>
                  <a:pt x="0" y="5790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66434" y="4463572"/>
            <a:ext cx="2824839" cy="579092"/>
          </a:xfrm>
          <a:custGeom>
            <a:avLst/>
            <a:gdLst/>
            <a:ahLst/>
            <a:cxnLst/>
            <a:rect r="r" b="b" t="t" l="l"/>
            <a:pathLst>
              <a:path h="579092" w="2824839">
                <a:moveTo>
                  <a:pt x="0" y="0"/>
                </a:moveTo>
                <a:lnTo>
                  <a:pt x="2824839" y="0"/>
                </a:lnTo>
                <a:lnTo>
                  <a:pt x="2824839" y="579092"/>
                </a:lnTo>
                <a:lnTo>
                  <a:pt x="0" y="5790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266434" y="8324349"/>
            <a:ext cx="2824839" cy="579092"/>
          </a:xfrm>
          <a:custGeom>
            <a:avLst/>
            <a:gdLst/>
            <a:ahLst/>
            <a:cxnLst/>
            <a:rect r="r" b="b" t="t" l="l"/>
            <a:pathLst>
              <a:path h="579092" w="2824839">
                <a:moveTo>
                  <a:pt x="0" y="0"/>
                </a:moveTo>
                <a:lnTo>
                  <a:pt x="2824839" y="0"/>
                </a:lnTo>
                <a:lnTo>
                  <a:pt x="2824839" y="579092"/>
                </a:lnTo>
                <a:lnTo>
                  <a:pt x="0" y="5790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266434" y="9562022"/>
            <a:ext cx="2824839" cy="579092"/>
          </a:xfrm>
          <a:custGeom>
            <a:avLst/>
            <a:gdLst/>
            <a:ahLst/>
            <a:cxnLst/>
            <a:rect r="r" b="b" t="t" l="l"/>
            <a:pathLst>
              <a:path h="579092" w="2824839">
                <a:moveTo>
                  <a:pt x="0" y="0"/>
                </a:moveTo>
                <a:lnTo>
                  <a:pt x="2824839" y="0"/>
                </a:lnTo>
                <a:lnTo>
                  <a:pt x="2824839" y="579092"/>
                </a:lnTo>
                <a:lnTo>
                  <a:pt x="0" y="57909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96427" y="308591"/>
            <a:ext cx="11296888" cy="6697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4"/>
              </a:lnSpc>
            </a:pPr>
            <a:r>
              <a:rPr lang="en-US" sz="4202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From Individual Reports to Civic Intelligence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28523" y="1117516"/>
            <a:ext cx="17230954" cy="614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900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Once reports are collected and managed, SevaFix turns them into meaningful analytics — giving city administrators a real-time view of civic health, departmental workload, and geographic hotspots.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92991" y="2162775"/>
            <a:ext cx="5357851" cy="45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124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92991" y="2748782"/>
            <a:ext cx="5357851" cy="26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Total Reports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92991" y="3039685"/>
            <a:ext cx="5357851" cy="23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All reports submitted through the platform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71923" y="2162775"/>
            <a:ext cx="5357851" cy="45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32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71923" y="2748782"/>
            <a:ext cx="5357851" cy="26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Active Reports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471923" y="3039685"/>
            <a:ext cx="5357851" cy="23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Currently in progress or pending assignment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50856" y="2162775"/>
            <a:ext cx="5357993" cy="45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82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950856" y="2748782"/>
            <a:ext cx="5357993" cy="26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Resolved Reports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950856" y="3039685"/>
            <a:ext cx="5357993" cy="23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Successfully closed with citizen feedback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853539" y="4049081"/>
            <a:ext cx="5357851" cy="45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66%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53539" y="4635097"/>
            <a:ext cx="5357851" cy="26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Resolution Rate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853539" y="4925991"/>
            <a:ext cx="5357851" cy="23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Proportion of reports reaching resolution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04492" y="4036343"/>
            <a:ext cx="5357851" cy="454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2"/>
              </a:lnSpc>
            </a:pPr>
            <a:r>
              <a:rPr lang="en-US" sz="3978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23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04492" y="4622359"/>
            <a:ext cx="5357851" cy="261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73"/>
              </a:lnSpc>
            </a:pPr>
            <a:r>
              <a:rPr lang="en-US" sz="1501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High / Urgent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04492" y="4913252"/>
            <a:ext cx="5357851" cy="230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6"/>
              </a:lnSpc>
            </a:pPr>
            <a:r>
              <a:rPr lang="en-US" sz="1200">
                <a:solidFill>
                  <a:srgbClr val="403011"/>
                </a:solidFill>
                <a:latin typeface="Arimo"/>
                <a:ea typeface="Arimo"/>
                <a:cs typeface="Arimo"/>
                <a:sym typeface="Arimo"/>
              </a:rPr>
              <a:t>Reports flagged as high priority or urgent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3993404" y="5901995"/>
            <a:ext cx="1272897" cy="551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3"/>
              </a:lnSpc>
            </a:pPr>
            <a:r>
              <a:rPr lang="en-US" sz="1701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Key Metrics </a:t>
            </a:r>
          </a:p>
          <a:p>
            <a:pPr algn="ctr">
              <a:lnSpc>
                <a:spcPts val="2123"/>
              </a:lnSpc>
            </a:pPr>
            <a:r>
              <a:rPr lang="en-US" sz="1701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Tracked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99060" y="7082250"/>
            <a:ext cx="7968625" cy="2637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35620" indent="-117810" lvl="1">
              <a:lnSpc>
                <a:spcPts val="3070"/>
              </a:lnSpc>
              <a:buFont typeface="Arial"/>
              <a:buChar char="•"/>
            </a:pPr>
            <a:r>
              <a:rPr lang="en-US" b="true" sz="1300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Total, active, and resolved reports</a:t>
            </a:r>
          </a:p>
          <a:p>
            <a:pPr algn="l" marL="235620" indent="-117810" lvl="1">
              <a:lnSpc>
                <a:spcPts val="3070"/>
              </a:lnSpc>
              <a:buFont typeface="Arial"/>
              <a:buChar char="•"/>
            </a:pPr>
            <a:r>
              <a:rPr lang="en-US" b="true" sz="1300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Resolution rate and average resolution time</a:t>
            </a:r>
          </a:p>
          <a:p>
            <a:pPr algn="l" marL="235620" indent="-117810" lvl="1">
              <a:lnSpc>
                <a:spcPts val="3070"/>
              </a:lnSpc>
              <a:buFont typeface="Arial"/>
              <a:buChar char="•"/>
            </a:pPr>
            <a:r>
              <a:rPr lang="en-US" b="true" sz="1300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High/urgent report count</a:t>
            </a:r>
          </a:p>
          <a:p>
            <a:pPr algn="l" marL="235620" indent="-117810" lvl="1">
              <a:lnSpc>
                <a:spcPts val="3070"/>
              </a:lnSpc>
              <a:buFont typeface="Arial"/>
              <a:buChar char="•"/>
            </a:pPr>
            <a:r>
              <a:rPr lang="en-US" b="true" sz="1300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Category distribution</a:t>
            </a:r>
          </a:p>
          <a:p>
            <a:pPr algn="l" marL="235620" indent="-117810" lvl="1">
              <a:lnSpc>
                <a:spcPts val="3070"/>
              </a:lnSpc>
              <a:buFont typeface="Arial"/>
              <a:buChar char="•"/>
            </a:pPr>
            <a:r>
              <a:rPr lang="en-US" b="true" sz="1300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Department workload balance</a:t>
            </a:r>
          </a:p>
          <a:p>
            <a:pPr algn="l" marL="235620" indent="-117810" lvl="1">
              <a:lnSpc>
                <a:spcPts val="3070"/>
              </a:lnSpc>
              <a:buFont typeface="Arial"/>
              <a:buChar char="•"/>
            </a:pPr>
            <a:r>
              <a:rPr lang="en-US" b="true" sz="1300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Reports over time trends</a:t>
            </a:r>
          </a:p>
          <a:p>
            <a:pPr algn="l" marL="235620" indent="-117810" lvl="1">
              <a:lnSpc>
                <a:spcPts val="3070"/>
              </a:lnSpc>
              <a:buFont typeface="Arial"/>
              <a:buChar char="•"/>
            </a:pPr>
            <a:r>
              <a:rPr lang="en-US" b="true" sz="1300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Geographic hotspot mapping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96427" y="4332555"/>
            <a:ext cx="3158053" cy="574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93"/>
              </a:lnSpc>
            </a:pPr>
            <a:r>
              <a:rPr lang="en-US" sz="2861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             </a:t>
            </a:r>
            <a:r>
              <a:rPr lang="en-US" b="true" sz="286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REPORTS</a:t>
            </a:r>
          </a:p>
          <a:p>
            <a:pPr algn="l">
              <a:lnSpc>
                <a:spcPts val="5093"/>
              </a:lnSpc>
            </a:pPr>
            <a:r>
              <a:rPr lang="en-US" b="true" sz="286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                 ↓</a:t>
            </a:r>
          </a:p>
          <a:p>
            <a:pPr algn="l">
              <a:lnSpc>
                <a:spcPts val="5093"/>
              </a:lnSpc>
            </a:pPr>
            <a:r>
              <a:rPr lang="en-US" b="true" sz="286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📊      PATTERNS</a:t>
            </a:r>
          </a:p>
          <a:p>
            <a:pPr algn="l">
              <a:lnSpc>
                <a:spcPts val="5093"/>
              </a:lnSpc>
            </a:pPr>
            <a:r>
              <a:rPr lang="en-US" b="true" sz="286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                 ↓</a:t>
            </a:r>
          </a:p>
          <a:p>
            <a:pPr algn="l">
              <a:lnSpc>
                <a:spcPts val="5093"/>
              </a:lnSpc>
            </a:pPr>
            <a:r>
              <a:rPr lang="en-US" b="true" sz="286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🗺️       HOTSPOTS</a:t>
            </a:r>
          </a:p>
          <a:p>
            <a:pPr algn="l">
              <a:lnSpc>
                <a:spcPts val="5093"/>
              </a:lnSpc>
            </a:pPr>
            <a:r>
              <a:rPr lang="en-US" b="true" sz="286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                 ↓</a:t>
            </a:r>
          </a:p>
          <a:p>
            <a:pPr algn="l">
              <a:lnSpc>
                <a:spcPts val="5093"/>
              </a:lnSpc>
            </a:pPr>
            <a:r>
              <a:rPr lang="en-US" b="true" sz="286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🏢     WORKLOAD</a:t>
            </a:r>
          </a:p>
          <a:p>
            <a:pPr algn="l">
              <a:lnSpc>
                <a:spcPts val="5093"/>
              </a:lnSpc>
            </a:pPr>
            <a:r>
              <a:rPr lang="en-US" b="true" sz="286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                  ↓</a:t>
            </a:r>
          </a:p>
          <a:p>
            <a:pPr algn="l">
              <a:lnSpc>
                <a:spcPts val="5093"/>
              </a:lnSpc>
            </a:pPr>
            <a:r>
              <a:rPr lang="en-US" b="true" sz="2861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⚡         ACTION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" y="-9982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319156" y="199780"/>
            <a:ext cx="17663537" cy="100852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97"/>
              </a:lnSpc>
              <a:spcBef>
                <a:spcPct val="0"/>
              </a:spcBef>
            </a:pPr>
            <a:r>
              <a:rPr lang="en-US" b="true" sz="4965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🗺️ THE CIVIC MAP — “SEE THE CITY”</a:t>
            </a:r>
          </a:p>
          <a:p>
            <a:pPr algn="l">
              <a:lnSpc>
                <a:spcPts val="5074"/>
              </a:lnSpc>
              <a:spcBef>
                <a:spcPct val="0"/>
              </a:spcBef>
            </a:pPr>
          </a:p>
          <a:p>
            <a:pPr algn="l">
              <a:lnSpc>
                <a:spcPts val="5074"/>
              </a:lnSpc>
              <a:spcBef>
                <a:spcPct val="0"/>
              </a:spcBef>
            </a:pPr>
            <a:r>
              <a:rPr lang="en-US" b="true" sz="4066" i="true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FROM INDIVIDUAL REPORTS → COMMUNITY VIEW</a:t>
            </a:r>
          </a:p>
          <a:p>
            <a:pPr algn="l">
              <a:lnSpc>
                <a:spcPts val="6197"/>
              </a:lnSpc>
              <a:spcBef>
                <a:spcPct val="0"/>
              </a:spcBef>
            </a:pPr>
          </a:p>
          <a:p>
            <a:pPr algn="l">
              <a:lnSpc>
                <a:spcPts val="5882"/>
              </a:lnSpc>
            </a:pPr>
            <a:r>
              <a:rPr lang="en-US" b="true" sz="365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Show a large map with issue markers.</a:t>
            </a:r>
          </a:p>
          <a:p>
            <a:pPr algn="l">
              <a:lnSpc>
                <a:spcPts val="5882"/>
              </a:lnSpc>
            </a:pPr>
            <a:r>
              <a:rPr lang="en-US" sz="365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🟥 High Priority</a:t>
            </a:r>
          </a:p>
          <a:p>
            <a:pPr algn="l">
              <a:lnSpc>
                <a:spcPts val="4559"/>
              </a:lnSpc>
              <a:spcBef>
                <a:spcPct val="0"/>
              </a:spcBef>
            </a:pPr>
            <a:r>
              <a:rPr lang="en-US" sz="365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🟨 In Progress</a:t>
            </a:r>
          </a:p>
          <a:p>
            <a:pPr algn="l">
              <a:lnSpc>
                <a:spcPts val="4559"/>
              </a:lnSpc>
              <a:spcBef>
                <a:spcPct val="0"/>
              </a:spcBef>
            </a:pPr>
            <a:r>
              <a:rPr lang="en-US" sz="3653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🟩 Resolved</a:t>
            </a:r>
          </a:p>
          <a:p>
            <a:pPr algn="l">
              <a:lnSpc>
                <a:spcPts val="4559"/>
              </a:lnSpc>
              <a:spcBef>
                <a:spcPct val="0"/>
              </a:spcBef>
            </a:pPr>
          </a:p>
          <a:p>
            <a:pPr algn="l">
              <a:lnSpc>
                <a:spcPts val="5968"/>
              </a:lnSpc>
            </a:pPr>
            <a:r>
              <a:rPr lang="en-US" b="true" sz="3552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Side panel:</a:t>
            </a:r>
          </a:p>
          <a:p>
            <a:pPr algn="l">
              <a:lnSpc>
                <a:spcPts val="5459"/>
              </a:lnSpc>
            </a:pPr>
            <a:r>
              <a:rPr lang="en-US" b="true" sz="32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Road Issues — 24</a:t>
            </a:r>
          </a:p>
          <a:p>
            <a:pPr algn="l">
              <a:lnSpc>
                <a:spcPts val="4055"/>
              </a:lnSpc>
              <a:spcBef>
                <a:spcPct val="0"/>
              </a:spcBef>
            </a:pPr>
            <a:r>
              <a:rPr lang="en-US" b="true" sz="32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Waste — 18</a:t>
            </a:r>
          </a:p>
          <a:p>
            <a:pPr algn="l">
              <a:lnSpc>
                <a:spcPts val="4055"/>
              </a:lnSpc>
              <a:spcBef>
                <a:spcPct val="0"/>
              </a:spcBef>
            </a:pPr>
            <a:r>
              <a:rPr lang="en-US" b="true" sz="3249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Water — 11</a:t>
            </a:r>
          </a:p>
          <a:p>
            <a:pPr algn="l">
              <a:lnSpc>
                <a:spcPts val="6197"/>
              </a:lnSpc>
              <a:spcBef>
                <a:spcPct val="0"/>
              </a:spcBef>
            </a:pPr>
          </a:p>
          <a:p>
            <a:pPr algn="l">
              <a:lnSpc>
                <a:spcPts val="6197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458521" y="6537650"/>
            <a:ext cx="7365294" cy="2022108"/>
          </a:xfrm>
          <a:custGeom>
            <a:avLst/>
            <a:gdLst/>
            <a:ahLst/>
            <a:cxnLst/>
            <a:rect r="r" b="b" t="t" l="l"/>
            <a:pathLst>
              <a:path h="2022108" w="7365294">
                <a:moveTo>
                  <a:pt x="0" y="0"/>
                </a:moveTo>
                <a:lnTo>
                  <a:pt x="7365294" y="0"/>
                </a:lnTo>
                <a:lnTo>
                  <a:pt x="7365294" y="2022108"/>
                </a:lnTo>
                <a:lnTo>
                  <a:pt x="0" y="202210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164129" y="6783361"/>
            <a:ext cx="5954078" cy="1397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88"/>
              </a:lnSpc>
            </a:pPr>
            <a:r>
              <a:rPr lang="en-US" b="true" sz="3701" spc="17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Every rep</a:t>
            </a:r>
            <a:r>
              <a:rPr lang="en-US" b="true" sz="3701" spc="17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ort becomes</a:t>
            </a:r>
          </a:p>
          <a:p>
            <a:pPr algn="ctr">
              <a:lnSpc>
                <a:spcPts val="5588"/>
              </a:lnSpc>
            </a:pPr>
            <a:r>
              <a:rPr lang="en-US" b="true" sz="3701" spc="173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part of a bigger picture.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384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861261" y="1987634"/>
          <a:ext cx="10342175" cy="8297702"/>
        </p:xfrm>
        <a:graphic>
          <a:graphicData uri="http://schemas.openxmlformats.org/drawingml/2006/table">
            <a:tbl>
              <a:tblPr/>
              <a:tblGrid>
                <a:gridCol w="4658728"/>
                <a:gridCol w="5683447"/>
              </a:tblGrid>
              <a:tr h="753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Feature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A19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Existing Solutions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A19C"/>
                    </a:solidFill>
                  </a:tcPr>
                </a:tc>
              </a:tr>
              <a:tr h="753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💬</a:t>
                      </a: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Citizen Interaction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Forms &amp; fixed categories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3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🧠</a:t>
                      </a: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Issue Understanding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Manual category selection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3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</a:t>
                      </a: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⚡</a:t>
                      </a: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Action Routing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Citizen finds the right service/department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3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📝 Report Creation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Manual form filling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3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📸</a:t>
                      </a: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Evidence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Basic photo attachment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3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🏛️Service Discovery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Separate portals/directories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3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🔄Tracking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Varies by platform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3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🗺️Issue Visibility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Limited / platform-specific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3742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📊Analytics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Basic or separate dashboards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6028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 🔗Overall Journey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Often fragmented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1203436" y="1987634"/>
          <a:ext cx="6615759" cy="8297702"/>
        </p:xfrm>
        <a:graphic>
          <a:graphicData uri="http://schemas.openxmlformats.org/drawingml/2006/table">
            <a:tbl>
              <a:tblPr/>
              <a:tblGrid>
                <a:gridCol w="6615759"/>
              </a:tblGrid>
              <a:tr h="7543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SevaFix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A19C"/>
                    </a:solidFill>
                  </a:tcPr>
                </a:tc>
              </a:tr>
              <a:tr h="7543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Natural-language conversation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43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SevaAI-assisted understanding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43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AI-guided next action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43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AI-assisted report generation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43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AI-assisted image analysis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43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Integrated service &amp; scheme finder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43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Unified report tracking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43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Interactive civic map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43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Impact &amp; civic analytics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  <a:tr h="754337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73"/>
                        </a:lnSpc>
                        <a:defRPr/>
                      </a:pPr>
                      <a:r>
                        <a:rPr lang="en-US" sz="1978">
                          <a:solidFill>
                            <a:srgbClr val="403011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Problem → Action → Resolution → Impact</a:t>
                      </a:r>
                      <a:endParaRPr lang="en-US" sz="1100"/>
                    </a:p>
                  </a:txBody>
                  <a:tcPr marL="167425" marR="167425" marT="167425" marB="167425" anchor="ctr">
                    <a:lnL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3946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E59"/>
                    </a:solidFill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861261" y="596573"/>
            <a:ext cx="15240237" cy="816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6"/>
              </a:lnSpc>
              <a:spcBef>
                <a:spcPct val="0"/>
              </a:spcBef>
            </a:pPr>
            <a:r>
              <a:rPr lang="en-US" b="true" sz="510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EXISTING</a:t>
            </a:r>
            <a:r>
              <a:rPr lang="en-US" b="true" sz="510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 SOLUTIONS    &lt;-----&gt;  ⚡SEVAFIX AI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1C06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F6EBD4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92991" y="774392"/>
            <a:ext cx="8071842" cy="688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38"/>
              </a:lnSpc>
            </a:pPr>
            <a:r>
              <a:rPr lang="en-US" sz="4277" b="true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⚙️</a:t>
            </a:r>
            <a:r>
              <a:rPr lang="en-US" sz="4277" b="true">
                <a:solidFill>
                  <a:srgbClr val="403011"/>
                </a:solidFill>
                <a:latin typeface="Arimo Bold"/>
                <a:ea typeface="Arimo Bold"/>
                <a:cs typeface="Arimo Bold"/>
                <a:sym typeface="Arimo Bold"/>
              </a:rPr>
              <a:t> Technology Behind SevaFix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02567" y="1651583"/>
            <a:ext cx="5593795" cy="458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3"/>
              </a:lnSpc>
            </a:pPr>
            <a:r>
              <a:rPr lang="en-US" sz="2927">
                <a:solidFill>
                  <a:srgbClr val="403011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Built for Speed. Designed to Scale.</a:t>
            </a:r>
          </a:p>
        </p:txBody>
      </p: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669892" y="2317932"/>
          <a:ext cx="16384502" cy="7254114"/>
        </p:xfrm>
        <a:graphic>
          <a:graphicData uri="http://schemas.openxmlformats.org/drawingml/2006/table">
            <a:tbl>
              <a:tblPr/>
              <a:tblGrid>
                <a:gridCol w="2948022"/>
                <a:gridCol w="5534899"/>
                <a:gridCol w="7901581"/>
              </a:tblGrid>
              <a:tr h="85875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11"/>
                        </a:lnSpc>
                        <a:defRPr/>
                      </a:pPr>
                      <a:r>
                        <a:rPr lang="en-US" sz="29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Layer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11"/>
                        </a:lnSpc>
                        <a:defRPr/>
                      </a:pPr>
                      <a:r>
                        <a:rPr lang="en-US" sz="29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Technology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511"/>
                        </a:lnSpc>
                        <a:defRPr/>
                      </a:pPr>
                      <a:r>
                        <a:rPr lang="en-US" sz="29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Purpose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7113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Frontend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React + TypeScript + Vite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Fast, modular &amp; type-safe application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7113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UI / Styling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Tailwind CSS + Lucide Icons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Responsive &amp; modern interface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7113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AI Intelligence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SevaAI Action Router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Intent detection, classification &amp; action routing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7113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AI Vision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Vision Provider Architecture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Image analysis &amp; evidence assistance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7113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State Management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React Context API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Shared reports, authentication &amp; AI state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7113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Data Layer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LocalStorage + Repository Pattern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Persistent frontend demo data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7113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Analytics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Recharts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Impact dashboards &amp; civic insights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71133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Maps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Leaflet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Interactive civic issue mapping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  <a:tr h="704683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 Architecture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Service + Provider Abstraction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31"/>
                        </a:lnSpc>
                        <a:defRPr/>
                      </a:pPr>
                      <a:r>
                        <a:rPr lang="en-US" sz="2026" b="true">
                          <a:solidFill>
                            <a:srgbClr val="403011"/>
                          </a:solidFill>
                          <a:latin typeface="Arimo Bold"/>
                          <a:ea typeface="Arimo Bold"/>
                          <a:cs typeface="Arimo Bold"/>
                          <a:sym typeface="Arimo Bold"/>
                        </a:rPr>
                        <a:t>Ready for APIs, LLMs &amp; databases</a:t>
                      </a:r>
                      <a:endParaRPr lang="en-US" sz="1100"/>
                    </a:p>
                  </a:txBody>
                  <a:tcPr marL="126628" marR="126628" marT="126628" marB="126628" anchor="ctr">
                    <a:lnL cmpd="sng" algn="ctr" cap="flat" w="12700">
                      <a:solidFill>
                        <a:srgbClr val="F6E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7B855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4"/>
                    </a:solidFill>
                  </a:tcPr>
                </a:tc>
              </a:tr>
            </a:tbl>
          </a:graphicData>
        </a:graphic>
      </p:graphicFrame>
      <p:sp>
        <p:nvSpPr>
          <p:cNvPr name="AutoShape 9" id="9"/>
          <p:cNvSpPr/>
          <p:nvPr/>
        </p:nvSpPr>
        <p:spPr>
          <a:xfrm>
            <a:off x="8862144" y="2317932"/>
            <a:ext cx="0" cy="72541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0" id="10"/>
          <p:cNvSpPr/>
          <p:nvPr/>
        </p:nvSpPr>
        <p:spPr>
          <a:xfrm flipH="true">
            <a:off x="3530097" y="2317932"/>
            <a:ext cx="0" cy="725411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DAHVt888bgw</dc:identifier>
  <dcterms:modified xsi:type="dcterms:W3CDTF">2011-08-01T06:04:30Z</dcterms:modified>
  <cp:revision>1</cp:revision>
  <dc:title>Citizens-Encounter-Problems-But-Not-Clear-Next-Steps.pptx</dc:title>
</cp:coreProperties>
</file>